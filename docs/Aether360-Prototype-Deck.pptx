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30352" y="3639312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030" b="1">
                <a:solidFill>
                  <a:srgbClr val="0B3D4A"/>
                </a:solidFill>
                <a:latin typeface="Arial"/>
              </a:rPr>
              <a:t>Team Name:  Aether 360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572000" y="3639312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030" b="1">
                <a:solidFill>
                  <a:srgbClr val="0B3D4A"/>
                </a:solidFill>
                <a:latin typeface="Arial"/>
              </a:rPr>
              <a:t>Team Leader Name:  Gopal Kanase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0352" y="4014215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030" b="1">
                <a:solidFill>
                  <a:srgbClr val="0B3D4A"/>
                </a:solidFill>
                <a:latin typeface="Arial"/>
              </a:rPr>
              <a:t>Team Size:  2  |  Gopal Kanase, Pramoda Devi B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572000" y="4014215"/>
            <a:ext cx="3977639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030" b="1">
                <a:solidFill>
                  <a:srgbClr val="0B3D4A"/>
                </a:solidFill>
                <a:latin typeface="Arial"/>
              </a:rPr>
              <a:t>Problem Statement:  Connect synthetic records to evidence-cited care decisions.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12064" y="2907792"/>
            <a:ext cx="813816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r>
              <a:rPr sz="2100" b="1">
                <a:solidFill>
                  <a:srgbClr val="0B3D4A"/>
                </a:solidFill>
                <a:latin typeface="Arial"/>
              </a:rPr>
              <a:t>AETHER 360  |  PATIENT &amp; MEMBER 360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3264408"/>
            <a:ext cx="804672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r>
              <a:rPr sz="1200" b="0">
                <a:solidFill>
                  <a:srgbClr val="5C6B73"/>
                </a:solidFill>
                <a:latin typeface="Arial"/>
              </a:rPr>
              <a:t>Cited clinical and regulatory document copilot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" y="4535424"/>
            <a:ext cx="809244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r>
              <a:rPr sz="919" b="1">
                <a:solidFill>
                  <a:srgbClr val="0B3D4A"/>
                </a:solidFill>
                <a:latin typeface="Arial"/>
              </a:rPr>
              <a:t>CHALLENGE: Patient and Member 360 and Clinical or Regulatory Document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438912" y="594360"/>
            <a:ext cx="8275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4A"/>
                </a:solidFill>
                <a:latin typeface="Arial"/>
              </a:rPr>
              <a:t>1. Problem brief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9509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5C6B73"/>
                </a:solidFill>
                <a:latin typeface="Arial"/>
              </a:rPr>
              <a:t>Fictional Aether Care Alliance; every member, claim, note and document in this prototype is synthetic.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1353312"/>
            <a:ext cx="3767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0B3D4A"/>
                </a:solidFill>
                <a:latin typeface="Arial"/>
              </a:rPr>
              <a:t>BUSINESS PROBLEM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" y="1554480"/>
            <a:ext cx="3767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0" b="0">
                <a:solidFill>
                  <a:srgbClr val="1C2B33"/>
                </a:solidFill>
                <a:latin typeface="Arial"/>
              </a:rPr>
              <a:t>Care teams work across separate EHR, payer-claims and policy/document systems. Risk and coverage answers are slow to assemble and difficult to audit.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" y="2139696"/>
            <a:ext cx="3767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C45C26"/>
                </a:solidFill>
                <a:latin typeface="Arial"/>
              </a:rPr>
              <a:t>TARGET USERS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2340864"/>
            <a:ext cx="3767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1C2B33"/>
                </a:solidFill>
                <a:latin typeface="Arial"/>
              </a:rPr>
              <a:t>Care managers, clinical pharmacists, prior-authorization nurses and quality teams.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" y="2862072"/>
            <a:ext cx="3767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F6F4E"/>
                </a:solidFill>
                <a:latin typeface="Arial"/>
              </a:rPr>
              <a:t>CURRENT PAIN &gt; PROTOTYPE RESPONSE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5488" y="3063240"/>
            <a:ext cx="3767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>
                <a:solidFill>
                  <a:srgbClr val="1C2B33"/>
                </a:solidFill>
                <a:latin typeface="Arial"/>
              </a:rPr>
              <a:t>Fragmented records and unsupported answers &gt; one member view, a source-linked ATRI factor ledger, cited document retrieval, and an explicit abstain/refuse path.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5488" y="3813048"/>
            <a:ext cx="3767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0B3D4A"/>
                </a:solidFill>
                <a:latin typeface="Arial"/>
              </a:rPr>
              <a:t>DOMAIN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" y="4014215"/>
            <a:ext cx="3767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>
                <a:solidFill>
                  <a:srgbClr val="1C2B33"/>
                </a:solidFill>
                <a:latin typeface="Arial"/>
              </a:rPr>
              <a:t>Healthcare operations and clinical / regulatory evidence review. This prototype is not medical advice or a production clinical service.</a:t>
            </a:r>
          </a:p>
        </p:txBody>
      </p:sp>
      <p:pic>
        <p:nvPicPr>
          <p:cNvPr id="74" name="Picture 73" descr="03_p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371600"/>
            <a:ext cx="4160520" cy="2340864"/>
          </a:xfrm>
          <a:prstGeom prst="rect">
            <a:avLst/>
          </a:prstGeom>
          <a:ln>
            <a:solidFill>
              <a:srgbClr val="D9D2C5"/>
            </a:solidFill>
          </a:ln>
        </p:spPr>
      </p:pic>
      <p:sp>
        <p:nvSpPr>
          <p:cNvPr id="75" name="TextBox 74"/>
          <p:cNvSpPr txBox="1"/>
          <p:nvPr/>
        </p:nvSpPr>
        <p:spPr>
          <a:xfrm>
            <a:off x="4498848" y="3785615"/>
            <a:ext cx="4114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C6B73"/>
                </a:solidFill>
                <a:latin typeface="Arial"/>
              </a:rPr>
              <a:t>WORKING LOCAL STREAMLIT PROTOTYPE &gt; SAMPLE DATA ONLY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07992" y="4069080"/>
            <a:ext cx="1261872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507992" y="4069080"/>
            <a:ext cx="50292" cy="557784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45152" y="4151376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36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5152" y="4416552"/>
            <a:ext cx="103327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1C2B33"/>
                </a:solidFill>
                <a:latin typeface="Arial"/>
              </a:rPr>
              <a:t>members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79592" y="4069080"/>
            <a:ext cx="1261872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879592" y="4069080"/>
            <a:ext cx="50292" cy="557784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16752" y="4151376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41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16752" y="4416552"/>
            <a:ext cx="103327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1C2B33"/>
                </a:solidFill>
                <a:latin typeface="Arial"/>
              </a:rPr>
              <a:t>claims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251192" y="4069080"/>
            <a:ext cx="1261872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51192" y="4069080"/>
            <a:ext cx="50292" cy="557784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88352" y="4151376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16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88352" y="4416552"/>
            <a:ext cx="103327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1C2B33"/>
                </a:solidFill>
                <a:latin typeface="Arial"/>
              </a:rPr>
              <a:t>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38912" y="594360"/>
            <a:ext cx="8275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4A"/>
                </a:solidFill>
                <a:latin typeface="Arial"/>
              </a:rPr>
              <a:t>2. Architecture &amp; CoCo workflow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9509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5C6B73"/>
                </a:solidFill>
                <a:latin typeface="Arial"/>
              </a:rPr>
              <a:t>Prototype data path and intended CoCo lifecycle; the Snowflake warehouse / Cortex Agent are not represented as deployed.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1261872"/>
            <a:ext cx="813816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02920" y="1261872"/>
            <a:ext cx="50292" cy="50292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1344168"/>
            <a:ext cx="7909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CoCo CLI lifecycle prompts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1609343"/>
            <a:ext cx="7909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1C2B33"/>
                </a:solidFill>
                <a:latin typeface="Arial"/>
              </a:rPr>
              <a:t>Planning &gt; Development &gt; Execution &gt; Testing | Prompts numbered 01 to 04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2011680"/>
            <a:ext cx="18288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" y="2011680"/>
            <a:ext cx="50292" cy="1143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2093976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Synthetic sources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2359152"/>
            <a:ext cx="1600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C2B33"/>
                </a:solidFill>
                <a:latin typeface="Arial"/>
              </a:rPr>
              <a:t>EHR + payer CSVs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C2B33"/>
                </a:solidFill>
                <a:latin typeface="Arial"/>
              </a:rPr>
              <a:t>Clinical / policy Markdown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633472" y="201168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33472" y="2011680"/>
            <a:ext cx="50292" cy="1143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70632" y="2093976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Conform &amp; prepare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70632" y="2359152"/>
            <a:ext cx="164591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C2B33"/>
                </a:solidFill>
                <a:latin typeface="Arial"/>
              </a:rPr>
              <a:t>Crosswalk + normalized data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C2B33"/>
                </a:solidFill>
                <a:latin typeface="Arial"/>
              </a:rPr>
              <a:t>Silver tables / document chunks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901184" y="201168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901184" y="2011680"/>
            <a:ext cx="50292" cy="114300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38344" y="2093976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Explain &amp; retrieve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38344" y="2359152"/>
            <a:ext cx="164591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C2B33"/>
                </a:solidFill>
                <a:latin typeface="Arial"/>
              </a:rPr>
              <a:t>MEMBER_360 + ATRI factors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C2B33"/>
                </a:solidFill>
                <a:latin typeface="Arial"/>
              </a:rPr>
              <a:t>Clinical / regulatory evidence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168896" y="2011680"/>
            <a:ext cx="1554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168896" y="2011680"/>
            <a:ext cx="50292" cy="1143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06056" y="2093976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Local app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06056" y="2359152"/>
            <a:ext cx="13258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C2B33"/>
                </a:solidFill>
                <a:latin typeface="Arial"/>
              </a:rPr>
              <a:t>Member 360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C2B33"/>
                </a:solidFill>
                <a:latin typeface="Arial"/>
              </a:rPr>
              <a:t>Cited answer / abstain</a:t>
            </a:r>
          </a:p>
        </p:txBody>
      </p:sp>
      <p:sp>
        <p:nvSpPr>
          <p:cNvPr id="92" name="Chevron 91"/>
          <p:cNvSpPr/>
          <p:nvPr/>
        </p:nvSpPr>
        <p:spPr>
          <a:xfrm>
            <a:off x="2322576" y="2432304"/>
            <a:ext cx="256032" cy="292608"/>
          </a:xfrm>
          <a:prstGeom prst="chevron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Chevron 92"/>
          <p:cNvSpPr/>
          <p:nvPr/>
        </p:nvSpPr>
        <p:spPr>
          <a:xfrm>
            <a:off x="4581144" y="2432304"/>
            <a:ext cx="256032" cy="292608"/>
          </a:xfrm>
          <a:prstGeom prst="chevron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evron 93"/>
          <p:cNvSpPr/>
          <p:nvPr/>
        </p:nvSpPr>
        <p:spPr>
          <a:xfrm>
            <a:off x="6848856" y="2432304"/>
            <a:ext cx="256032" cy="292608"/>
          </a:xfrm>
          <a:prstGeom prst="chevron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0352" y="3346704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1">
                <a:solidFill>
                  <a:srgbClr val="0B3D4A"/>
                </a:solidFill>
                <a:latin typeface="Arial"/>
              </a:rPr>
              <a:t>LOCAL PROTOTYPE  &gt;  Python data / retrieval modules + Streamlit UI; citations point to synthetic source rows and document chunks.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02920" y="3675887"/>
            <a:ext cx="3913632" cy="576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02920" y="3675887"/>
            <a:ext cx="50292" cy="576072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0080" y="3758183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Planned Snowflake path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" y="4023359"/>
            <a:ext cx="3685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0">
                <a:solidFill>
                  <a:srgbClr val="1C2B33"/>
                </a:solidFill>
                <a:latin typeface="Arial"/>
              </a:rPr>
              <a:t>SQL scripts describe AETHER_CARE bronze &gt; silver &gt; gold, Cortex Search / Agent and Streamlit integration.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700016" y="3675887"/>
            <a:ext cx="3931920" cy="576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700016" y="3675887"/>
            <a:ext cx="50292" cy="57607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37176" y="3758183"/>
            <a:ext cx="3703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CoCo skill references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37176" y="4023359"/>
            <a:ext cx="3703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10" b="0">
                <a:solidFill>
                  <a:srgbClr val="1C2B33"/>
                </a:solidFill>
                <a:latin typeface="Arial"/>
              </a:rPr>
              <a:t>Project prompts name synthetic-care-data, patient-360-builder, cited-clinical-qa and risk-strat-explainer.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1207" y="43708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30" b="0">
                <a:solidFill>
                  <a:srgbClr val="5C6B73"/>
                </a:solidFill>
                <a:latin typeface="Arial"/>
              </a:rPr>
              <a:t>Transparency: skill definitions and a CoCo CLI execution recording are not included; the named skills are prompt references, not claimed as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38912" y="594360"/>
            <a:ext cx="8275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4A"/>
                </a:solidFill>
                <a:latin typeface="Arial"/>
              </a:rPr>
              <a:t>3. Impact statement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9509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5C6B73"/>
                </a:solidFill>
                <a:latin typeface="Arial"/>
              </a:rPr>
              <a:t>Measured prototype scope from the bundled synthetic corpus; operational time / accuracy impact has not yet been measured.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5488" y="1362456"/>
            <a:ext cx="1947672" cy="758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75488" y="1362456"/>
            <a:ext cx="50292" cy="758952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144475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36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2648" y="1709928"/>
            <a:ext cx="171907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C2B33"/>
                </a:solidFill>
                <a:latin typeface="Arial"/>
              </a:rPr>
              <a:t>synthetic members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569464" y="1362456"/>
            <a:ext cx="1947672" cy="758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69464" y="1362456"/>
            <a:ext cx="50292" cy="7589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06624" y="144475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41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06624" y="1709928"/>
            <a:ext cx="171907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C2B33"/>
                </a:solidFill>
                <a:latin typeface="Arial"/>
              </a:rPr>
              <a:t>synthetic claims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663440" y="1362456"/>
            <a:ext cx="1947672" cy="758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663440" y="1362456"/>
            <a:ext cx="50292" cy="758952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00600" y="144475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00600" y="1709928"/>
            <a:ext cx="171907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C2B33"/>
                </a:solidFill>
                <a:latin typeface="Arial"/>
              </a:rPr>
              <a:t>synthetic documents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757416" y="1362456"/>
            <a:ext cx="1947672" cy="758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757416" y="1362456"/>
            <a:ext cx="50292" cy="7589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94576" y="144475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7 / 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94576" y="1709928"/>
            <a:ext cx="171907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C2B33"/>
                </a:solidFill>
                <a:latin typeface="Arial"/>
              </a:rPr>
              <a:t>unit tests passing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064" y="239572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B3D4A"/>
                </a:solidFill>
                <a:latin typeface="Arial"/>
              </a:rPr>
              <a:t>DEMONSTRATED CAPABILITIES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84632" y="2724912"/>
            <a:ext cx="257860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84632" y="2724912"/>
            <a:ext cx="50292" cy="9875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1792" y="2807208"/>
            <a:ext cx="23500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Explainable risk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1792" y="3072384"/>
            <a:ext cx="23500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C2B33"/>
                </a:solidFill>
                <a:latin typeface="Arial"/>
              </a:rPr>
              <a:t>Rule-based ATRI factor points display their source objects and evidence.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273552" y="2724912"/>
            <a:ext cx="257860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273552" y="2724912"/>
            <a:ext cx="50292" cy="987552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410712" y="2807208"/>
            <a:ext cx="23500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Evidence-first answers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10712" y="3072384"/>
            <a:ext cx="23500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69" b="0">
                <a:solidFill>
                  <a:srgbClr val="1C2B33"/>
                </a:solidFill>
                <a:latin typeface="Arial"/>
              </a:rPr>
              <a:t>Retrieved examples show citations; missing support can abstain; real-person lookups are refused.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062472" y="2724912"/>
            <a:ext cx="257860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062472" y="2724912"/>
            <a:ext cx="50292" cy="9875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99632" y="2807208"/>
            <a:ext cx="23500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Reusable delivery path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99632" y="3072384"/>
            <a:ext cx="23500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69" b="0">
                <a:solidFill>
                  <a:srgbClr val="1C2B33"/>
                </a:solidFill>
                <a:latin typeface="Arial"/>
              </a:rPr>
              <a:t>Python app, SQL deployment sequence, CoCo prompts, MCP server and guardrail hook are in the repo.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1207" y="3977639"/>
            <a:ext cx="8092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B3D4A"/>
                </a:solidFill>
                <a:latin typeface="Arial"/>
              </a:rPr>
              <a:t>NEXT-PILOT MEASURES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1207" y="4242816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1C2B33"/>
                </a:solidFill>
                <a:latin typeface="Arial"/>
              </a:rPr>
              <a:t>Track care-gap review time vs. baseline, citation correctness, abstention/refusal correctness and workflow completion with domain reviewers. Scale by adding governed sources and evaluating each connector; no clinical efficacy or savings are claimed.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Box 79"/>
          <p:cNvSpPr txBox="1"/>
          <p:nvPr/>
        </p:nvSpPr>
        <p:spPr>
          <a:xfrm>
            <a:off x="438912" y="594360"/>
            <a:ext cx="8275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0B3D4A"/>
                </a:solidFill>
                <a:latin typeface="Arial"/>
              </a:rPr>
              <a:t>Prototype workflow | 3 modular capabilities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9509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5C6B73"/>
                </a:solidFill>
                <a:latin typeface="Arial"/>
              </a:rPr>
              <a:t>Synthetic example: review a medication-safety question with Jordan Hale; all member identifiers shown are synthetic.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2920" y="1261872"/>
            <a:ext cx="1874519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2920" y="1261872"/>
            <a:ext cx="50292" cy="566928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1344168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1  Select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1609343"/>
            <a:ext cx="164591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1C2B33"/>
                </a:solidFill>
                <a:latin typeface="Arial"/>
              </a:rPr>
              <a:t>Synthetic member</a:t>
            </a:r>
          </a:p>
        </p:txBody>
      </p:sp>
      <p:sp>
        <p:nvSpPr>
          <p:cNvPr id="86" name="Chevron 85"/>
          <p:cNvSpPr/>
          <p:nvPr/>
        </p:nvSpPr>
        <p:spPr>
          <a:xfrm>
            <a:off x="2404872" y="1408176"/>
            <a:ext cx="256032" cy="292608"/>
          </a:xfrm>
          <a:prstGeom prst="chevron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2587752" y="1261872"/>
            <a:ext cx="1874519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587752" y="1261872"/>
            <a:ext cx="50292" cy="5669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24912" y="1344168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2  Explain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24912" y="1609343"/>
            <a:ext cx="164591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1C2B33"/>
                </a:solidFill>
                <a:latin typeface="Arial"/>
              </a:rPr>
              <a:t>ATRI + source rows</a:t>
            </a:r>
          </a:p>
        </p:txBody>
      </p:sp>
      <p:sp>
        <p:nvSpPr>
          <p:cNvPr id="91" name="Chevron 90"/>
          <p:cNvSpPr/>
          <p:nvPr/>
        </p:nvSpPr>
        <p:spPr>
          <a:xfrm>
            <a:off x="4489704" y="1408176"/>
            <a:ext cx="256032" cy="292608"/>
          </a:xfrm>
          <a:prstGeom prst="chevron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672583" y="1261872"/>
            <a:ext cx="1874519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672583" y="1261872"/>
            <a:ext cx="50292" cy="566928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09744" y="1344168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3  Retrieve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09744" y="1609343"/>
            <a:ext cx="164591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1C2B33"/>
                </a:solidFill>
                <a:latin typeface="Arial"/>
              </a:rPr>
              <a:t>Notes + policy chunks</a:t>
            </a:r>
          </a:p>
        </p:txBody>
      </p:sp>
      <p:sp>
        <p:nvSpPr>
          <p:cNvPr id="96" name="Chevron 95"/>
          <p:cNvSpPr/>
          <p:nvPr/>
        </p:nvSpPr>
        <p:spPr>
          <a:xfrm>
            <a:off x="6574536" y="1408176"/>
            <a:ext cx="256032" cy="292608"/>
          </a:xfrm>
          <a:prstGeom prst="chevron">
            <a:avLst/>
          </a:prstGeom>
          <a:solidFill>
            <a:srgbClr val="00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757416" y="1261872"/>
            <a:ext cx="1874519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57416" y="1261872"/>
            <a:ext cx="50292" cy="566928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94576" y="1344168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4  Respond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94576" y="1609343"/>
            <a:ext cx="164591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1C2B33"/>
                </a:solidFill>
                <a:latin typeface="Arial"/>
              </a:rPr>
              <a:t>Cite / abstain / refuse</a:t>
            </a:r>
          </a:p>
        </p:txBody>
      </p:sp>
      <p:pic>
        <p:nvPicPr>
          <p:cNvPr id="101" name="Picture 100" descr="05_q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029968"/>
            <a:ext cx="4617720" cy="2596896"/>
          </a:xfrm>
          <a:prstGeom prst="rect">
            <a:avLst/>
          </a:prstGeom>
          <a:ln>
            <a:solidFill>
              <a:srgbClr val="D9D2C5"/>
            </a:solidFill>
          </a:ln>
        </p:spPr>
      </p:pic>
      <p:sp>
        <p:nvSpPr>
          <p:cNvPr id="102" name="Rounded Rectangle 101"/>
          <p:cNvSpPr/>
          <p:nvPr/>
        </p:nvSpPr>
        <p:spPr>
          <a:xfrm>
            <a:off x="5330952" y="1984248"/>
            <a:ext cx="3300984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330952" y="1984248"/>
            <a:ext cx="50292" cy="6858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468112" y="2066543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01 &gt; ATRI risk explanation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68112" y="2331720"/>
            <a:ext cx="3072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1C2B33"/>
                </a:solidFill>
                <a:latin typeface="Arial"/>
              </a:rPr>
              <a:t>aether360/risk.py implements a transparent, rule-based factor ledger.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330952" y="2788920"/>
            <a:ext cx="3300984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330952" y="2788920"/>
            <a:ext cx="50292" cy="68580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68112" y="2871215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02 &gt; Cited clinical QA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68112" y="3136391"/>
            <a:ext cx="3072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1C2B33"/>
                </a:solidFill>
                <a:latin typeface="Arial"/>
              </a:rPr>
              <a:t>aether360/qa.py retrieves synthetic notes / labels and cites evidence or abstains.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330952" y="3593592"/>
            <a:ext cx="3300984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330952" y="3593592"/>
            <a:ext cx="50292" cy="6858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68112" y="3675888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3D4A"/>
                </a:solidFill>
                <a:latin typeface="Arial"/>
              </a:rPr>
              <a:t>03 &gt; Care-ops action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68112" y="3941064"/>
            <a:ext cx="30723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19" b="0">
                <a:solidFill>
                  <a:srgbClr val="1C2B33"/>
                </a:solidFill>
                <a:latin typeface="Arial"/>
              </a:rPr>
              <a:t>Local MCP exposes synthetic care-gap tickets / safety-review workflows; guardrails constrain unsafe SQL.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2064" y="4681728"/>
            <a:ext cx="8138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70" b="1">
                <a:solidFill>
                  <a:srgbClr val="5C6B73"/>
                </a:solidFill>
                <a:latin typeface="Arial"/>
              </a:rPr>
              <a:t>Narrated prototype walkthrough (1:54; not a CoCo CLI screen recording):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12064" y="4837176"/>
            <a:ext cx="8138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10" b="0">
                <a:solidFill>
                  <a:srgbClr val="0B3D4A"/>
                </a:solidFill>
                <a:latin typeface="Arial"/>
              </a:rPr>
              <a:t>https://raw.githubusercontent.com/gplkanase/aether-360-copilot/main/docs/demo/Aether360-demo.mp4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Box 85"/>
          <p:cNvSpPr txBox="1"/>
          <p:nvPr/>
        </p:nvSpPr>
        <p:spPr>
          <a:xfrm>
            <a:off x="502920" y="4681728"/>
            <a:ext cx="8138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GITHUB.COM/GPLKANASE/AETHER-360-COPILOT  |  FULLY SYNTHETIC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Aether 360 - CoCo CLI Hackathon GCC Edition Prototype</dc:title>
  <cp:lastModifiedBy>python-pptx</cp:lastModifiedBy>
  <cp:revision>1</cp:revision>
  <dcterms:modified xsi:type="dcterms:W3CDTF">2026-10-04T17:06:37Z</dcterms:modified>
  <dc:subject>Synthetic Patient and Member 360 with cited clinical and regulatory evidence</dc:subject>
  <dc:creator>Gopal Kanase; Pramoda Devi B</dc:creator>
</cp:coreProperties>
</file>